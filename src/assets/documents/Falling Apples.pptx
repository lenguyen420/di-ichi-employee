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70" r:id="rId4"/>
    <p:sldId id="271" r:id="rId5"/>
    <p:sldId id="272" r:id="rId6"/>
    <p:sldId id="273" r:id="rId7"/>
    <p:sldId id="257" r:id="rId8"/>
    <p:sldId id="259" r:id="rId9"/>
    <p:sldId id="274" r:id="rId10"/>
    <p:sldId id="260" r:id="rId11"/>
    <p:sldId id="261" r:id="rId12"/>
    <p:sldId id="263" r:id="rId13"/>
    <p:sldId id="262" r:id="rId14"/>
    <p:sldId id="264" r:id="rId15"/>
    <p:sldId id="265" r:id="rId16"/>
    <p:sldId id="266" r:id="rId17"/>
    <p:sldId id="267" r:id="rId18"/>
    <p:sldId id="269" r:id="rId19"/>
    <p:sldId id="268" r:id="rId20"/>
    <p:sldId id="275" r:id="rId21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105"/>
    <p:restoredTop sz="96197"/>
  </p:normalViewPr>
  <p:slideViewPr>
    <p:cSldViewPr snapToGrid="0" snapToObjects="1">
      <p:cViewPr varScale="1">
        <p:scale>
          <a:sx n="75" d="100"/>
          <a:sy n="75" d="100"/>
        </p:scale>
        <p:origin x="5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4327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CAA67-E5B6-6446-80CA-E7FA2EE0F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76F54-AEA5-4444-8D54-5492DB890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1DC13-D03D-AE40-BD7A-CAB14A3AB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0396B-AD29-1844-8017-F11CFF20E54C}" type="datetimeFigureOut">
              <a:rPr lang="en-VN" smtClean="0"/>
              <a:t>11/17/2025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5CB52-7C1D-9843-83F1-E7382D7D8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51E10-D5AC-3F45-8C1E-BCD816453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F47C-CFA7-3D4F-A979-6BEA6F302184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323805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2EAE5-AD5E-2644-9114-B4A58D6C6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1B6C45-FDE7-EF42-80C2-8B5C496E12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53F39-2310-FE4D-9DBB-238A123F1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0396B-AD29-1844-8017-F11CFF20E54C}" type="datetimeFigureOut">
              <a:rPr lang="en-VN" smtClean="0"/>
              <a:t>11/17/2025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CBF68-9609-6848-91E8-F17793811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87214-B482-3C42-AB39-67717089C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F47C-CFA7-3D4F-A979-6BEA6F302184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855453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BA1E0-3AD4-6E47-98D8-9B04D31BD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F9169-3BA8-3B44-BE25-A09A26FD29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CB7A95-4F52-5745-8EA7-646E9C4FCD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7579A0-7A74-3145-9DD9-6902759D0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0396B-AD29-1844-8017-F11CFF20E54C}" type="datetimeFigureOut">
              <a:rPr lang="en-VN" smtClean="0"/>
              <a:t>11/17/2025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7790FA-BA2D-2641-ABF8-BF80F6D85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03A7A8-7D2A-2A4D-AE0B-87D6C7D78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F47C-CFA7-3D4F-A979-6BEA6F302184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349867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1B14B-8450-2541-AE3D-5E6C214C7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43F31A-6A2D-1C40-B77A-68EEE6F89B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EEB969-AE05-C04A-8767-2B117D8237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A43D01-12A0-2E43-82E4-2C3A28152A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2F9FE3-F308-E944-B597-3D1426D620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5126A6-BB8E-874C-98AA-EC1E8753D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0396B-AD29-1844-8017-F11CFF20E54C}" type="datetimeFigureOut">
              <a:rPr lang="en-VN" smtClean="0"/>
              <a:t>11/17/2025</a:t>
            </a:fld>
            <a:endParaRPr lang="en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510110-4ED4-7F46-9905-1F0A88B10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133850-8314-254C-84F3-292E41B75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F47C-CFA7-3D4F-A979-6BEA6F302184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316417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48089-5C08-5241-B46F-28B54767B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D49003-D61B-E447-9811-05F12042C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0396B-AD29-1844-8017-F11CFF20E54C}" type="datetimeFigureOut">
              <a:rPr lang="en-VN" smtClean="0"/>
              <a:t>11/17/2025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B1C0A9-6FD7-E244-A827-01F71FE88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8C7F57-BA78-574A-9D9E-D2B123E8C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F47C-CFA7-3D4F-A979-6BEA6F302184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775981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5D781F-8FED-9341-98D8-F941BF692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0396B-AD29-1844-8017-F11CFF20E54C}" type="datetimeFigureOut">
              <a:rPr lang="en-VN" smtClean="0"/>
              <a:t>11/17/2025</a:t>
            </a:fld>
            <a:endParaRPr lang="en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59A661-8A4B-FA48-BE21-F4272698F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40CAE2-083B-7846-8815-FE5EDFAFE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F47C-CFA7-3D4F-A979-6BEA6F302184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232341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0733F-B9A8-694F-B380-2605B8134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47992-DEDF-2142-915B-2C8FBB03C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EF3907-F5D4-4A4E-8A1A-38CD208919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015E48-1F08-654F-8F91-04980BD5E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0396B-AD29-1844-8017-F11CFF20E54C}" type="datetimeFigureOut">
              <a:rPr lang="en-VN" smtClean="0"/>
              <a:t>11/17/2025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98FA64-CE2A-974F-AD1E-DDD8AFE0E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001E13-7477-064A-9973-6317FC0A6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F47C-CFA7-3D4F-A979-6BEA6F302184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424490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3AF5F-7C6D-EA4A-8F5A-0F4B58E14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D2BA75-E938-CF4E-877F-6B40AA536B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D08E18-64E7-9841-AA3D-A9C255369B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517821-F686-1C49-9389-9395CF3DF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0396B-AD29-1844-8017-F11CFF20E54C}" type="datetimeFigureOut">
              <a:rPr lang="en-VN" smtClean="0"/>
              <a:t>11/17/2025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8305CA-2B7A-414C-8938-28E0875ED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47942B-283A-7B4B-A794-D7B93ABB7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F47C-CFA7-3D4F-A979-6BEA6F302184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71778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3BFB6-9656-8740-98B9-164F2B8E0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CDFA9-C61D-0A42-A1C1-5F18A6C602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D7051D-731A-CC4E-8294-792B0045B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0396B-AD29-1844-8017-F11CFF20E54C}" type="datetimeFigureOut">
              <a:rPr lang="en-VN" smtClean="0"/>
              <a:t>11/17/2025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55D7B-5A5E-7B4A-9933-460B23E76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79F3E8-9CFE-A248-B3F2-BCAC43DC3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F47C-CFA7-3D4F-A979-6BEA6F302184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376385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7FF6B4-70F0-FD47-9462-E34BD4C4C0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AE9B2D-F8F4-F145-AF3F-631C699AD5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7E0F7-497F-E047-A303-DA12A1673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0396B-AD29-1844-8017-F11CFF20E54C}" type="datetimeFigureOut">
              <a:rPr lang="en-VN" smtClean="0"/>
              <a:t>11/17/2025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4F2D6-8C6C-C740-A2CE-3C99E2D9F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33CB7-9368-4843-B71D-5E4D95860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F47C-CFA7-3D4F-A979-6BEA6F302184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754188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B0F7C9-9B77-BC49-BA92-AD261E1FE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A5419B-87F0-D743-99E6-2416CF356D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DBA95-A2ED-8545-85AB-A6101D78AB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90396B-AD29-1844-8017-F11CFF20E54C}" type="datetimeFigureOut">
              <a:rPr lang="en-VN" smtClean="0"/>
              <a:t>11/17/2025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854AE-FAA2-7C44-A0E7-03A9FBB5B9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1266C-BD62-4A43-8FA6-3EE1E27BA4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9FF47C-CFA7-3D4F-A979-6BEA6F302184}" type="slidenum">
              <a:rPr lang="en-VN" smtClean="0"/>
              <a:t>‹#›</a:t>
            </a:fld>
            <a:endParaRPr lang="en-V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88F34B-5125-0A41-8E08-EBFEDFF8CCE7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769600" y="0"/>
            <a:ext cx="1422400" cy="142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390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cartoon of a fruit orchard&#10;&#10;Description automatically generated with medium confidence">
            <a:extLst>
              <a:ext uri="{FF2B5EF4-FFF2-40B4-BE49-F238E27FC236}">
                <a16:creationId xmlns:a16="http://schemas.microsoft.com/office/drawing/2014/main" id="{E7AD6877-0BF0-F9A3-9D68-FEA5CA6730A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0256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6EF5D8-44E7-6540-B7AC-8990CA3FB469}"/>
              </a:ext>
            </a:extLst>
          </p:cNvPr>
          <p:cNvSpPr/>
          <p:nvPr/>
        </p:nvSpPr>
        <p:spPr>
          <a:xfrm>
            <a:off x="477981" y="1122363"/>
            <a:ext cx="4023360" cy="32041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>
                <a:ln w="22225">
                  <a:solidFill>
                    <a:schemeClr val="accent2"/>
                  </a:solidFill>
                  <a:prstDash val="solid"/>
                </a:ln>
                <a:latin typeface="+mj-lt"/>
                <a:ea typeface="+mj-ea"/>
                <a:cs typeface="+mj-cs"/>
              </a:rPr>
              <a:t>Lập trình game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>
                <a:ln w="22225">
                  <a:solidFill>
                    <a:schemeClr val="accent2"/>
                  </a:solidFill>
                  <a:prstDash val="solid"/>
                </a:ln>
                <a:latin typeface="+mj-lt"/>
                <a:ea typeface="+mj-ea"/>
                <a:cs typeface="+mj-cs"/>
              </a:rPr>
              <a:t>Falling Apples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666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8F067-1BA1-8845-AAE4-3BC92B7CD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502" y="412595"/>
            <a:ext cx="10874298" cy="5764368"/>
          </a:xfrm>
        </p:spPr>
        <p:txBody>
          <a:bodyPr/>
          <a:lstStyle/>
          <a:p>
            <a:pPr marL="0" indent="0">
              <a:buNone/>
            </a:pPr>
            <a:r>
              <a:rPr lang="en-VN" dirty="0">
                <a:solidFill>
                  <a:srgbClr val="FF0000"/>
                </a:solidFill>
              </a:rPr>
              <a:t>1.Phân tích trò chơi</a:t>
            </a:r>
          </a:p>
          <a:p>
            <a:pPr marL="0" indent="0">
              <a:buNone/>
            </a:pPr>
            <a:endParaRPr lang="en-VN" dirty="0"/>
          </a:p>
          <a:p>
            <a:pPr marL="0" indent="0">
              <a:buNone/>
            </a:pPr>
            <a:r>
              <a:rPr lang="en-VN" dirty="0"/>
              <a:t>	</a:t>
            </a:r>
            <a:r>
              <a:rPr lang="vi-V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Điều khiển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>
              <a:buNone/>
            </a:pP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- Trò chơi yêu cầu người chơi điều khiển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hứng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táo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trượt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khỏi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Game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thúc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hứng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dược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cộng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Level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Level,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2813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13AE9-C360-2F99-1F35-B8E8DFDC4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D7609-CE8C-83F0-A780-5AB65051C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502" y="412595"/>
            <a:ext cx="10874298" cy="5764368"/>
          </a:xfrm>
        </p:spPr>
        <p:txBody>
          <a:bodyPr/>
          <a:lstStyle/>
          <a:p>
            <a:pPr marL="0" indent="0">
              <a:buNone/>
            </a:pPr>
            <a:r>
              <a:rPr lang="en-VN" dirty="0">
                <a:solidFill>
                  <a:srgbClr val="FF0000"/>
                </a:solidFill>
              </a:rPr>
              <a:t>1.Phân tích trò chơi</a:t>
            </a:r>
          </a:p>
          <a:p>
            <a:pPr marL="0" indent="0">
              <a:buNone/>
            </a:pPr>
            <a:endParaRPr lang="en-VN" dirty="0"/>
          </a:p>
          <a:p>
            <a:pPr marL="0" indent="0" fontAlgn="base">
              <a:buNone/>
            </a:pPr>
            <a:r>
              <a:rPr lang="vi-VN" b="1" dirty="0"/>
              <a:t>Các biến trong game.</a:t>
            </a:r>
          </a:p>
          <a:p>
            <a:pPr lvl="1" fontAlgn="base"/>
            <a:r>
              <a:rPr lang="vi-VN" dirty="0"/>
              <a:t>Biến “Số táo”: lưu số lượng táo hứng được.</a:t>
            </a:r>
          </a:p>
          <a:p>
            <a:pPr lvl="1" fontAlgn="base"/>
            <a:r>
              <a:rPr lang="vi-VN" dirty="0"/>
              <a:t>Biến “Level”: lưu giá trị của cấp độ hiện tại.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B1217A-E5AB-9015-29E6-608E2463B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5209" y="3294779"/>
            <a:ext cx="2419688" cy="7144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F7C36A-C6E8-0B45-7985-4D6C70511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5209" y="4231136"/>
            <a:ext cx="2381582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310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2F51C-9021-8835-0644-B2A2713E9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CF742-C0B7-BB4A-79ED-BAB8AFC66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502" y="412595"/>
            <a:ext cx="10874298" cy="5764368"/>
          </a:xfrm>
        </p:spPr>
        <p:txBody>
          <a:bodyPr/>
          <a:lstStyle/>
          <a:p>
            <a:pPr marL="0" indent="0">
              <a:buNone/>
            </a:pPr>
            <a:r>
              <a:rPr lang="en-VN" dirty="0">
                <a:solidFill>
                  <a:srgbClr val="FF0000"/>
                </a:solidFill>
              </a:rPr>
              <a:t>1.Phân tích trò chơi</a:t>
            </a:r>
          </a:p>
          <a:p>
            <a:pPr marL="0" indent="0">
              <a:buNone/>
            </a:pPr>
            <a:endParaRPr lang="en-V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A85FA3-F76E-940F-4B09-04019E697915}"/>
              </a:ext>
            </a:extLst>
          </p:cNvPr>
          <p:cNvSpPr txBox="1"/>
          <p:nvPr/>
        </p:nvSpPr>
        <p:spPr>
          <a:xfrm>
            <a:off x="479502" y="1063119"/>
            <a:ext cx="1007673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vi-VN" b="1" dirty="0"/>
              <a:t>Táo rơi (Apple).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vi-VN" dirty="0"/>
              <a:t>Táo sẽ bắt đầu rơi khi “Nút Play” được nhấn.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vi-VN" dirty="0"/>
              <a:t>Tọa độ y của táo mặc định sẽ là 175, tọa độ x của táo sẽ lấy ngẫu nhiên từ -200 đến 200.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vi-VN" dirty="0"/>
              <a:t>Liên tục mỗi giây tạo ra bản sao của táo.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vi-VN" dirty="0"/>
              <a:t>Cho bản sao của  táo rơi bằng cách liên tục giảm tọa độ y một lương tương ứng với biến “Level”.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vi-VN" dirty="0"/>
              <a:t>Khi tọa độ y của bản sao của táo bé hơn -170 hoặc khi chạm vào “Bát đựng táo (Bowl)”, bản sao của táo sẽ bị xóa và thay đổi biến “Lượt” một lượng bằng 1.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4632A1-B7DD-2FC9-80B4-99FD9117A1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1897" y="3486558"/>
            <a:ext cx="3128206" cy="302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163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AAF9C-BDED-9511-DF89-D9427F506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8C00B-4D2A-BABE-0581-87F1C1776B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502" y="412595"/>
            <a:ext cx="10874298" cy="5764368"/>
          </a:xfrm>
        </p:spPr>
        <p:txBody>
          <a:bodyPr/>
          <a:lstStyle/>
          <a:p>
            <a:pPr marL="0" indent="0">
              <a:buNone/>
            </a:pPr>
            <a:r>
              <a:rPr lang="en-VN" dirty="0">
                <a:solidFill>
                  <a:srgbClr val="FF0000"/>
                </a:solidFill>
              </a:rPr>
              <a:t>1.Phân tích trò chơi</a:t>
            </a:r>
          </a:p>
          <a:p>
            <a:pPr marL="0" indent="0">
              <a:buNone/>
            </a:pPr>
            <a:endParaRPr lang="en-V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C4355F-6038-443A-23AA-DDAA1594D297}"/>
              </a:ext>
            </a:extLst>
          </p:cNvPr>
          <p:cNvSpPr txBox="1"/>
          <p:nvPr/>
        </p:nvSpPr>
        <p:spPr>
          <a:xfrm>
            <a:off x="479502" y="1063119"/>
            <a:ext cx="1007673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vi-VN" b="1" dirty="0"/>
              <a:t>Bát đựng táo (Bowl).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vi-VN" dirty="0"/>
              <a:t>Điều khiển “Bát đựng táo (Bowl)” bằng cách liên tục đặt tọa độ x  của “Bát đựng táo (Bowl)” bằng tọa độ x của con trỏ chuột.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vi-VN" dirty="0"/>
              <a:t>Đặt biến “Level” bằng 0 và liên tục xét, nếu biến “Số táo” bằng “Level” x 10 thì tăng “Level” một lượng = 1.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8B8685-D82A-801E-2140-333FAF9BC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522" y="2482018"/>
            <a:ext cx="5772956" cy="3753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061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F94DB-0EFF-2DE7-AC24-3EAE8E149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C75E3-839F-C519-0736-D7A250E959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502" y="412595"/>
            <a:ext cx="10874298" cy="5764368"/>
          </a:xfrm>
        </p:spPr>
        <p:txBody>
          <a:bodyPr/>
          <a:lstStyle/>
          <a:p>
            <a:pPr marL="0" indent="0">
              <a:buNone/>
            </a:pPr>
            <a:r>
              <a:rPr lang="en-VN" dirty="0">
                <a:solidFill>
                  <a:srgbClr val="FF0000"/>
                </a:solidFill>
              </a:rPr>
              <a:t>1.Phân tích trò chơi</a:t>
            </a:r>
          </a:p>
          <a:p>
            <a:pPr marL="0" indent="0">
              <a:buNone/>
            </a:pPr>
            <a:endParaRPr lang="en-V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3CDE25-42E1-4F7B-4847-33F3EFD41628}"/>
              </a:ext>
            </a:extLst>
          </p:cNvPr>
          <p:cNvSpPr txBox="1"/>
          <p:nvPr/>
        </p:nvSpPr>
        <p:spPr>
          <a:xfrm>
            <a:off x="479502" y="1063119"/>
            <a:ext cx="1007673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vi-VN" b="1" dirty="0"/>
              <a:t>Trái tim (Heart).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vi-VN" dirty="0"/>
              <a:t>Đặt biến “Lượt” bằng 0 và tọa độ mặc định(Gợi ý: x=-220, y=140”) cho trái tim.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vi-VN" dirty="0"/>
              <a:t>Sử dụng biến “Lượt” để xác định lượng trái tim còn lại.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vi-VN" dirty="0"/>
              <a:t>Tạo ra bản sao của trái tim và điều chỉnh.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495AC6-950C-8345-8FC3-4766500FF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3753" y="2589396"/>
            <a:ext cx="3905795" cy="369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293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966E269-93E2-C94E-8526-E6640FB3F4C7}"/>
              </a:ext>
            </a:extLst>
          </p:cNvPr>
          <p:cNvSpPr txBox="1"/>
          <p:nvPr/>
        </p:nvSpPr>
        <p:spPr>
          <a:xfrm>
            <a:off x="1170878" y="1661532"/>
            <a:ext cx="103746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Apple</a:t>
            </a:r>
            <a:endParaRPr lang="en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Bowl</a:t>
            </a:r>
            <a:endParaRPr lang="en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Heart</a:t>
            </a:r>
          </a:p>
          <a:p>
            <a:endParaRPr lang="en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endParaRPr lang="en-V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5F4D4B-A18C-114C-B2DA-42A2AC2837EA}"/>
              </a:ext>
            </a:extLst>
          </p:cNvPr>
          <p:cNvSpPr txBox="1"/>
          <p:nvPr/>
        </p:nvSpPr>
        <p:spPr>
          <a:xfrm>
            <a:off x="819691" y="1148576"/>
            <a:ext cx="17398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Thêm nhân vật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B81EA7-5649-814F-BFC7-796EE6CA1404}"/>
              </a:ext>
            </a:extLst>
          </p:cNvPr>
          <p:cNvSpPr txBox="1"/>
          <p:nvPr/>
        </p:nvSpPr>
        <p:spPr>
          <a:xfrm>
            <a:off x="482658" y="393647"/>
            <a:ext cx="60997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VN" sz="32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 Tạo nhân vật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411F5A-6743-C647-5749-31C39F48B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5589" y="2849203"/>
            <a:ext cx="4715533" cy="9240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7CACA67-B8F4-1A77-3A91-C0CFF7CBE74A}"/>
              </a:ext>
            </a:extLst>
          </p:cNvPr>
          <p:cNvSpPr txBox="1"/>
          <p:nvPr/>
        </p:nvSpPr>
        <p:spPr>
          <a:xfrm>
            <a:off x="597001" y="2851596"/>
            <a:ext cx="21852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 bản vật Heart</a:t>
            </a:r>
            <a:endParaRPr lang="en-VN" sz="2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B2BB63-CAE9-DF46-AD00-D3B67E99F163}"/>
              </a:ext>
            </a:extLst>
          </p:cNvPr>
          <p:cNvSpPr txBox="1"/>
          <p:nvPr/>
        </p:nvSpPr>
        <p:spPr>
          <a:xfrm>
            <a:off x="1170878" y="3429000"/>
            <a:ext cx="11015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Heart1</a:t>
            </a:r>
            <a:endParaRPr lang="en-V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Heart2</a:t>
            </a:r>
            <a:endParaRPr lang="en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580300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9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79B62A-1433-B640-9900-B7A2A8D35C0A}"/>
              </a:ext>
            </a:extLst>
          </p:cNvPr>
          <p:cNvSpPr txBox="1"/>
          <p:nvPr/>
        </p:nvSpPr>
        <p:spPr>
          <a:xfrm>
            <a:off x="512956" y="382049"/>
            <a:ext cx="45749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800" dirty="0">
                <a:solidFill>
                  <a:srgbClr val="FF0000"/>
                </a:solidFill>
              </a:rPr>
              <a:t>3.Tạo phông nền cho sân khấu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BD5295-3C9D-E147-A2C8-2B4D8B4F489F}"/>
              </a:ext>
            </a:extLst>
          </p:cNvPr>
          <p:cNvSpPr txBox="1"/>
          <p:nvPr/>
        </p:nvSpPr>
        <p:spPr>
          <a:xfrm>
            <a:off x="959005" y="1041636"/>
            <a:ext cx="6071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/>
              <a:t>Tải ảnh đã chuẩn bị sẵn hoặc HS tự thiết kế riêng của bản thân.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4DE08B-6C5A-4F08-9039-870BFB9B9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880" y="1410968"/>
            <a:ext cx="7216240" cy="4494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297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7D864-AF41-B564-3290-2D5C1EF2E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3D252D1-1999-0D47-5D74-E872409FDA48}"/>
              </a:ext>
            </a:extLst>
          </p:cNvPr>
          <p:cNvSpPr txBox="1"/>
          <p:nvPr/>
        </p:nvSpPr>
        <p:spPr>
          <a:xfrm>
            <a:off x="3347720" y="2828836"/>
            <a:ext cx="54965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Kết</a:t>
            </a:r>
            <a:r>
              <a:rPr lang="en-US" sz="7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72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thúc</a:t>
            </a:r>
            <a:r>
              <a:rPr lang="en-US" sz="7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72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tiết</a:t>
            </a:r>
            <a:r>
              <a:rPr lang="en-US" sz="7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1</a:t>
            </a:r>
            <a:endParaRPr lang="en-VN" sz="72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57128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F4EA89A-2FD7-650C-EDA0-D525F98635CB}"/>
              </a:ext>
            </a:extLst>
          </p:cNvPr>
          <p:cNvSpPr/>
          <p:nvPr/>
        </p:nvSpPr>
        <p:spPr>
          <a:xfrm>
            <a:off x="5577662" y="257888"/>
            <a:ext cx="1313234" cy="43118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7781C-DD60-C348-AAC7-82FD132E6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3871" y="753610"/>
            <a:ext cx="4560849" cy="5910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VN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4.1 Lập trình nhân </a:t>
            </a:r>
            <a:r>
              <a:rPr lang="en-VN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vật </a:t>
            </a:r>
            <a:r>
              <a:rPr lang="en-US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Apple</a:t>
            </a:r>
            <a:endParaRPr lang="en-VN" sz="2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VN" sz="2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D569EC-7696-2047-95F2-4A482B14B337}"/>
              </a:ext>
            </a:extLst>
          </p:cNvPr>
          <p:cNvSpPr txBox="1"/>
          <p:nvPr/>
        </p:nvSpPr>
        <p:spPr>
          <a:xfrm>
            <a:off x="702528" y="2782669"/>
            <a:ext cx="38889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Tạo biến “số táo” dùng để đêm số lượng táo hứng được. </a:t>
            </a:r>
            <a:endParaRPr lang="en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4FFECB-534F-6046-9D2E-CD04C16EA1A9}"/>
              </a:ext>
            </a:extLst>
          </p:cNvPr>
          <p:cNvSpPr txBox="1"/>
          <p:nvPr/>
        </p:nvSpPr>
        <p:spPr>
          <a:xfrm>
            <a:off x="702527" y="211873"/>
            <a:ext cx="18389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800" dirty="0">
                <a:solidFill>
                  <a:srgbClr val="FF0000"/>
                </a:solidFill>
              </a:rPr>
              <a:t>4. Lập trình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39C856-7877-71ED-AB2A-588D51957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555" y="211873"/>
            <a:ext cx="3352132" cy="655926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897EA15-FA55-A4DD-43C5-2086AC6829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3922" y="2010455"/>
            <a:ext cx="2849479" cy="2837090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0E02B191-256E-64EA-1F25-39184093D4A0}"/>
              </a:ext>
            </a:extLst>
          </p:cNvPr>
          <p:cNvSpPr/>
          <p:nvPr/>
        </p:nvSpPr>
        <p:spPr>
          <a:xfrm>
            <a:off x="8365786" y="3285517"/>
            <a:ext cx="544749" cy="2869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BA2FF7E-2B4F-A96C-16F9-EBDFD7CF582A}"/>
              </a:ext>
            </a:extLst>
          </p:cNvPr>
          <p:cNvSpPr/>
          <p:nvPr/>
        </p:nvSpPr>
        <p:spPr>
          <a:xfrm>
            <a:off x="5597643" y="303904"/>
            <a:ext cx="1313234" cy="431189"/>
          </a:xfrm>
          <a:prstGeom prst="rect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6527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7781C-DD60-C348-AAC7-82FD132E6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410" y="946907"/>
            <a:ext cx="4560849" cy="5910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VN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4.1 Lập trình nhân vật </a:t>
            </a:r>
            <a:r>
              <a:rPr lang="en-US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Apple</a:t>
            </a:r>
            <a:endParaRPr lang="en-VN" sz="2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BBE260-6255-FD43-A03F-4FA05D7486C4}"/>
              </a:ext>
            </a:extLst>
          </p:cNvPr>
          <p:cNvSpPr txBox="1"/>
          <p:nvPr/>
        </p:nvSpPr>
        <p:spPr>
          <a:xfrm>
            <a:off x="826912" y="2232906"/>
            <a:ext cx="34338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Đặt biến “Số táo” = 0 khi nhấn vào lá cờ. </a:t>
            </a:r>
            <a:endParaRPr lang="en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4CF161-2D6B-8D49-9291-5AA3DF9FC6D9}"/>
              </a:ext>
            </a:extLst>
          </p:cNvPr>
          <p:cNvSpPr txBox="1"/>
          <p:nvPr/>
        </p:nvSpPr>
        <p:spPr>
          <a:xfrm>
            <a:off x="338204" y="365716"/>
            <a:ext cx="18389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800" dirty="0">
                <a:solidFill>
                  <a:srgbClr val="FF0000"/>
                </a:solidFill>
              </a:rPr>
              <a:t>4. Lập trình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378EB0-A5D4-CA01-662F-C7E177225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2823" y="1018678"/>
            <a:ext cx="4083551" cy="48471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241139E-C6F9-39A8-885E-F7836E9E1F37}"/>
              </a:ext>
            </a:extLst>
          </p:cNvPr>
          <p:cNvSpPr txBox="1"/>
          <p:nvPr/>
        </p:nvSpPr>
        <p:spPr>
          <a:xfrm>
            <a:off x="826912" y="2897697"/>
            <a:ext cx="3999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Đặt khối lệnh “ẩn” để ẩn nhân vật đi. </a:t>
            </a:r>
            <a:endParaRPr lang="en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1F64FF5-1E4A-1CD5-F5FF-13C4C4F92C1D}"/>
              </a:ext>
            </a:extLst>
          </p:cNvPr>
          <p:cNvSpPr/>
          <p:nvPr/>
        </p:nvSpPr>
        <p:spPr>
          <a:xfrm>
            <a:off x="4620399" y="2271084"/>
            <a:ext cx="468993" cy="2849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04F2641F-C86F-F169-DB5A-77FF25D186D4}"/>
              </a:ext>
            </a:extLst>
          </p:cNvPr>
          <p:cNvSpPr/>
          <p:nvPr/>
        </p:nvSpPr>
        <p:spPr>
          <a:xfrm>
            <a:off x="4620400" y="2930423"/>
            <a:ext cx="468993" cy="2849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C05B6B-5F88-C79E-9699-522066D38283}"/>
              </a:ext>
            </a:extLst>
          </p:cNvPr>
          <p:cNvSpPr txBox="1"/>
          <p:nvPr/>
        </p:nvSpPr>
        <p:spPr>
          <a:xfrm>
            <a:off x="855053" y="4200965"/>
            <a:ext cx="39998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Khối lệnh “liên tục” thực hiện tạo bản sao cho nhân vật “Apple” mỗi 1s.</a:t>
            </a:r>
            <a:endParaRPr lang="en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A2577857-36F9-40E7-1097-7661404A343A}"/>
              </a:ext>
            </a:extLst>
          </p:cNvPr>
          <p:cNvSpPr/>
          <p:nvPr/>
        </p:nvSpPr>
        <p:spPr>
          <a:xfrm>
            <a:off x="4592258" y="4347099"/>
            <a:ext cx="468993" cy="2849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63696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5" grpId="0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7781C-DD60-C348-AAC7-82FD132E6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4747" y="735093"/>
            <a:ext cx="4560849" cy="5910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VN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US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VN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VN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Lập trình </a:t>
            </a:r>
            <a:r>
              <a:rPr lang="en-VN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 vật</a:t>
            </a:r>
            <a:r>
              <a:rPr lang="en-US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Apple</a:t>
            </a:r>
            <a:endParaRPr lang="en-VN" sz="2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VN" sz="2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5BF652-8ACA-434E-8C67-F25952037F7E}"/>
              </a:ext>
            </a:extLst>
          </p:cNvPr>
          <p:cNvSpPr txBox="1"/>
          <p:nvPr/>
        </p:nvSpPr>
        <p:spPr>
          <a:xfrm>
            <a:off x="702527" y="211873"/>
            <a:ext cx="18389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800" dirty="0">
                <a:solidFill>
                  <a:srgbClr val="FF0000"/>
                </a:solidFill>
              </a:rPr>
              <a:t>4. Lập trình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6CD3EC-A680-ACAB-B7EE-F4142551A42B}"/>
              </a:ext>
            </a:extLst>
          </p:cNvPr>
          <p:cNvSpPr txBox="1"/>
          <p:nvPr/>
        </p:nvSpPr>
        <p:spPr>
          <a:xfrm>
            <a:off x="1064747" y="1160200"/>
            <a:ext cx="35311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Khi bản sao apple được tạo ra, dùng khối lệnh “hiện” để hiện bản sao do trước đó ta đã ẩn bản chính</a:t>
            </a:r>
            <a:endParaRPr lang="vi-VN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43A70AF5-DAE8-92F8-BDED-933F1464EEBE}"/>
              </a:ext>
            </a:extLst>
          </p:cNvPr>
          <p:cNvSpPr/>
          <p:nvPr/>
        </p:nvSpPr>
        <p:spPr>
          <a:xfrm>
            <a:off x="4815258" y="1500497"/>
            <a:ext cx="1167710" cy="2489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EFF7B4-DC9D-07F7-31DD-A929DBFE58E4}"/>
              </a:ext>
            </a:extLst>
          </p:cNvPr>
          <p:cNvSpPr txBox="1"/>
          <p:nvPr/>
        </p:nvSpPr>
        <p:spPr>
          <a:xfrm>
            <a:off x="1064747" y="2083530"/>
            <a:ext cx="35311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Khối lệnh “liên tục” thực hiện công việc: </a:t>
            </a:r>
            <a:endParaRPr lang="vi-V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295BA9-9092-0B05-ECC2-32D0448E7105}"/>
              </a:ext>
            </a:extLst>
          </p:cNvPr>
          <p:cNvSpPr txBox="1"/>
          <p:nvPr/>
        </p:nvSpPr>
        <p:spPr>
          <a:xfrm>
            <a:off x="1064747" y="2699246"/>
            <a:ext cx="35311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- Đưa bản sao của Apple đến tọa độ x ngẫu nhiên và y = 175</a:t>
            </a:r>
            <a:endParaRPr lang="vi-V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FD92CA1-7482-6F21-5EAB-A4386C463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763" y="754620"/>
            <a:ext cx="4755491" cy="5869988"/>
          </a:xfrm>
          <a:prstGeom prst="rect">
            <a:avLst/>
          </a:prstGeom>
        </p:spPr>
      </p:pic>
      <p:sp>
        <p:nvSpPr>
          <p:cNvPr id="19" name="Arrow: Right 18">
            <a:extLst>
              <a:ext uri="{FF2B5EF4-FFF2-40B4-BE49-F238E27FC236}">
                <a16:creationId xmlns:a16="http://schemas.microsoft.com/office/drawing/2014/main" id="{4461E8BD-D258-8089-0568-EE522418CD83}"/>
              </a:ext>
            </a:extLst>
          </p:cNvPr>
          <p:cNvSpPr/>
          <p:nvPr/>
        </p:nvSpPr>
        <p:spPr>
          <a:xfrm rot="20641315">
            <a:off x="4835199" y="2575862"/>
            <a:ext cx="1162254" cy="3079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E04012-48F6-49C3-9AA4-F2A81E58A5F6}"/>
              </a:ext>
            </a:extLst>
          </p:cNvPr>
          <p:cNvSpPr txBox="1"/>
          <p:nvPr/>
        </p:nvSpPr>
        <p:spPr>
          <a:xfrm>
            <a:off x="1064746" y="3345577"/>
            <a:ext cx="353114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/>
              <a:t>Khối lệnh “lặp lại cho đến khi” thực hiện các khối lệnh bên trong nó cho đến khi tọa độ của bản sao &lt; -170:</a:t>
            </a:r>
          </a:p>
          <a:p>
            <a:r>
              <a:rPr lang="en-US"/>
              <a:t>     + Thay đôi tọa độ y = -5 – Level(trong đó biến “Level” chỉ cấp độ)</a:t>
            </a:r>
            <a:endParaRPr lang="vi-VN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F225D2E0-26E8-332F-AF1A-623E507009C9}"/>
              </a:ext>
            </a:extLst>
          </p:cNvPr>
          <p:cNvSpPr/>
          <p:nvPr/>
        </p:nvSpPr>
        <p:spPr>
          <a:xfrm rot="20641315">
            <a:off x="4835200" y="3535615"/>
            <a:ext cx="1162254" cy="3079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2DF4B1-F42E-F1DF-FC36-EB9ABC108EC3}"/>
              </a:ext>
            </a:extLst>
          </p:cNvPr>
          <p:cNvSpPr txBox="1"/>
          <p:nvPr/>
        </p:nvSpPr>
        <p:spPr>
          <a:xfrm>
            <a:off x="1064747" y="5284569"/>
            <a:ext cx="353114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/>
              <a:t>Khối lệnh này thực hiện tang biên “Lượt” thêm 1 lượng = 1 tương ứng với số lần không hứng được táo. Đồng thời xóa bản sao này của Apple.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B92F0DE8-1B43-0D36-C61E-342503A9A250}"/>
              </a:ext>
            </a:extLst>
          </p:cNvPr>
          <p:cNvSpPr/>
          <p:nvPr/>
        </p:nvSpPr>
        <p:spPr>
          <a:xfrm rot="20641315">
            <a:off x="4835197" y="5968908"/>
            <a:ext cx="1162254" cy="3079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80335DC-A88D-98F7-D65D-1BAC27427284}"/>
              </a:ext>
            </a:extLst>
          </p:cNvPr>
          <p:cNvGrpSpPr/>
          <p:nvPr/>
        </p:nvGrpSpPr>
        <p:grpSpPr>
          <a:xfrm>
            <a:off x="6407286" y="3122578"/>
            <a:ext cx="3193914" cy="3171218"/>
            <a:chOff x="6407286" y="3122578"/>
            <a:chExt cx="3193914" cy="3171218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C844AB5-21DC-CE05-3026-4A51B4182D5A}"/>
                </a:ext>
              </a:extLst>
            </p:cNvPr>
            <p:cNvSpPr/>
            <p:nvPr/>
          </p:nvSpPr>
          <p:spPr>
            <a:xfrm>
              <a:off x="6536987" y="3122578"/>
              <a:ext cx="3064213" cy="2013625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DD474EB-BE3E-90A4-3DE0-91E069B5BF21}"/>
                </a:ext>
              </a:extLst>
            </p:cNvPr>
            <p:cNvSpPr/>
            <p:nvPr/>
          </p:nvSpPr>
          <p:spPr>
            <a:xfrm>
              <a:off x="6407286" y="5486400"/>
              <a:ext cx="2756170" cy="807396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</p:spTree>
    <p:extLst>
      <p:ext uri="{BB962C8B-B14F-4D97-AF65-F5344CB8AC3E}">
        <p14:creationId xmlns:p14="http://schemas.microsoft.com/office/powerpoint/2010/main" val="2082328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86C0745-F7F8-824F-9F48-C4A737EFDFB5}"/>
              </a:ext>
            </a:extLst>
          </p:cNvPr>
          <p:cNvSpPr txBox="1"/>
          <p:nvPr/>
        </p:nvSpPr>
        <p:spPr>
          <a:xfrm>
            <a:off x="535259" y="722968"/>
            <a:ext cx="30748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4.2 Lập trình nhân vật</a:t>
            </a:r>
            <a:r>
              <a:rPr lang="en-US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Bowl</a:t>
            </a:r>
            <a:endParaRPr lang="en-VN" sz="2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749341-16F0-C148-8E05-FE182F8D6036}"/>
              </a:ext>
            </a:extLst>
          </p:cNvPr>
          <p:cNvSpPr txBox="1"/>
          <p:nvPr/>
        </p:nvSpPr>
        <p:spPr>
          <a:xfrm>
            <a:off x="330568" y="170110"/>
            <a:ext cx="18389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800" dirty="0">
                <a:solidFill>
                  <a:srgbClr val="FF0000"/>
                </a:solidFill>
              </a:rPr>
              <a:t>4. Lập trình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27A541-F74E-C8FE-ABD9-8EB910D5E8C2}"/>
              </a:ext>
            </a:extLst>
          </p:cNvPr>
          <p:cNvSpPr txBox="1"/>
          <p:nvPr/>
        </p:nvSpPr>
        <p:spPr>
          <a:xfrm>
            <a:off x="778579" y="1274323"/>
            <a:ext cx="38892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Khi bấm vào lá cờ, thực hiện các công việc sau theo thứ tự:</a:t>
            </a:r>
            <a:endParaRPr lang="vi-V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B99EAD-4313-0AAF-5550-A21FD1EBD98B}"/>
              </a:ext>
            </a:extLst>
          </p:cNvPr>
          <p:cNvSpPr txBox="1"/>
          <p:nvPr/>
        </p:nvSpPr>
        <p:spPr>
          <a:xfrm>
            <a:off x="1402450" y="3285651"/>
            <a:ext cx="30787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- Liên tục cho tọa độ x của nhân vật “Bowl” bằng tọa độ x của con trỏ chuột.</a:t>
            </a:r>
            <a:endParaRPr lang="vi-V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33B7F2-9275-684D-5FB3-4F5CB56AE7F0}"/>
              </a:ext>
            </a:extLst>
          </p:cNvPr>
          <p:cNvSpPr txBox="1"/>
          <p:nvPr/>
        </p:nvSpPr>
        <p:spPr>
          <a:xfrm>
            <a:off x="1402450" y="2418486"/>
            <a:ext cx="2402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- Hiện nhân vật Bowl.</a:t>
            </a:r>
            <a:endParaRPr lang="vi-V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DF50CF6-EED9-0D45-5867-5535166CA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6163" y="1123078"/>
            <a:ext cx="5017919" cy="4325147"/>
          </a:xfrm>
          <a:prstGeom prst="rect">
            <a:avLst/>
          </a:prstGeom>
        </p:spPr>
      </p:pic>
      <p:sp>
        <p:nvSpPr>
          <p:cNvPr id="19" name="Arrow: Right 18">
            <a:extLst>
              <a:ext uri="{FF2B5EF4-FFF2-40B4-BE49-F238E27FC236}">
                <a16:creationId xmlns:a16="http://schemas.microsoft.com/office/drawing/2014/main" id="{4336C5E7-405B-957A-BE6C-A3A37B917BC1}"/>
              </a:ext>
            </a:extLst>
          </p:cNvPr>
          <p:cNvSpPr/>
          <p:nvPr/>
        </p:nvSpPr>
        <p:spPr>
          <a:xfrm>
            <a:off x="4581728" y="2418486"/>
            <a:ext cx="797668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48ABFE93-F6B1-D20F-B7F1-EBA065009CAC}"/>
              </a:ext>
            </a:extLst>
          </p:cNvPr>
          <p:cNvSpPr/>
          <p:nvPr/>
        </p:nvSpPr>
        <p:spPr>
          <a:xfrm>
            <a:off x="4581728" y="3640631"/>
            <a:ext cx="797668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80743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194EA1B-B1D1-8848-B8FA-B34FFF8F6EE4}"/>
              </a:ext>
            </a:extLst>
          </p:cNvPr>
          <p:cNvSpPr txBox="1"/>
          <p:nvPr/>
        </p:nvSpPr>
        <p:spPr>
          <a:xfrm>
            <a:off x="721239" y="551156"/>
            <a:ext cx="30748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4.2 Lập trình nhân vật</a:t>
            </a:r>
            <a:r>
              <a:rPr lang="en-US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Bowl</a:t>
            </a:r>
            <a:endParaRPr lang="en-VN" sz="2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94B059-139C-EC45-B0F6-1FCE39E18BCA}"/>
              </a:ext>
            </a:extLst>
          </p:cNvPr>
          <p:cNvSpPr txBox="1"/>
          <p:nvPr/>
        </p:nvSpPr>
        <p:spPr>
          <a:xfrm>
            <a:off x="266705" y="58932"/>
            <a:ext cx="18389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800" dirty="0">
                <a:solidFill>
                  <a:srgbClr val="FF0000"/>
                </a:solidFill>
              </a:rPr>
              <a:t>4. Lập trình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BD6566-3545-6D4C-404A-D34AF63EC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808" y="1359046"/>
            <a:ext cx="5137155" cy="46129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27B089-BAF5-26C4-953F-C0C6B3E90CB2}"/>
              </a:ext>
            </a:extLst>
          </p:cNvPr>
          <p:cNvSpPr txBox="1"/>
          <p:nvPr/>
        </p:nvSpPr>
        <p:spPr>
          <a:xfrm>
            <a:off x="996716" y="1454861"/>
            <a:ext cx="31959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Khi nhấn vào lá cờ thực hiện các công việc sau:</a:t>
            </a:r>
            <a:endParaRPr lang="vi-VN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8D3E311-8DB1-61D3-F7DA-2D2F77516F85}"/>
              </a:ext>
            </a:extLst>
          </p:cNvPr>
          <p:cNvGrpSpPr/>
          <p:nvPr/>
        </p:nvGrpSpPr>
        <p:grpSpPr>
          <a:xfrm>
            <a:off x="996716" y="2230104"/>
            <a:ext cx="3483090" cy="2594657"/>
            <a:chOff x="1186188" y="2230104"/>
            <a:chExt cx="3483090" cy="2594657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AF45793-E505-AA57-293E-90CC7AB03203}"/>
                </a:ext>
              </a:extLst>
            </p:cNvPr>
            <p:cNvSpPr txBox="1"/>
            <p:nvPr/>
          </p:nvSpPr>
          <p:spPr>
            <a:xfrm>
              <a:off x="1186188" y="2230104"/>
              <a:ext cx="348309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- Đặt biến “Level” = 1 để đặt cấp độ thấp nhất khi mới bắt đầu game</a:t>
              </a:r>
              <a:endParaRPr lang="vi-VN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16313A5-9C27-3A6B-C48A-3D098D351016}"/>
                </a:ext>
              </a:extLst>
            </p:cNvPr>
            <p:cNvSpPr txBox="1"/>
            <p:nvPr/>
          </p:nvSpPr>
          <p:spPr>
            <a:xfrm>
              <a:off x="1186188" y="3901431"/>
              <a:ext cx="348309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- Liên tục sét xem số táo có bằng “Level” * 10. Nếu bằng ta thay đổi biến “Level” một lượng bằng 1.</a:t>
              </a:r>
              <a:endParaRPr lang="vi-VN"/>
            </a:p>
          </p:txBody>
        </p:sp>
      </p:grp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BDB2B10A-2F4A-41A5-F058-9A8798BAFD83}"/>
              </a:ext>
            </a:extLst>
          </p:cNvPr>
          <p:cNvSpPr/>
          <p:nvPr/>
        </p:nvSpPr>
        <p:spPr>
          <a:xfrm>
            <a:off x="4641933" y="2387900"/>
            <a:ext cx="924128" cy="3307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E7042F6E-8D44-58A8-1292-9D96E39EECDB}"/>
              </a:ext>
            </a:extLst>
          </p:cNvPr>
          <p:cNvSpPr/>
          <p:nvPr/>
        </p:nvSpPr>
        <p:spPr>
          <a:xfrm>
            <a:off x="4641933" y="4197726"/>
            <a:ext cx="924128" cy="3307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847097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D9D962A-51FE-E540-9861-C53C3D9C63F7}"/>
              </a:ext>
            </a:extLst>
          </p:cNvPr>
          <p:cNvSpPr txBox="1"/>
          <p:nvPr/>
        </p:nvSpPr>
        <p:spPr>
          <a:xfrm>
            <a:off x="535259" y="792865"/>
            <a:ext cx="30748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4.2 Lập trình nhân vật</a:t>
            </a:r>
            <a:r>
              <a:rPr lang="en-US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Bowl</a:t>
            </a:r>
            <a:endParaRPr lang="en-VN" sz="2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54293F-BDF1-7041-A953-65B93DD49100}"/>
              </a:ext>
            </a:extLst>
          </p:cNvPr>
          <p:cNvSpPr txBox="1"/>
          <p:nvPr/>
        </p:nvSpPr>
        <p:spPr>
          <a:xfrm>
            <a:off x="299571" y="269645"/>
            <a:ext cx="18389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800" dirty="0">
                <a:solidFill>
                  <a:srgbClr val="FF0000"/>
                </a:solidFill>
              </a:rPr>
              <a:t>4. Lập trình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BCDF03-D445-2E8C-534C-FF433885D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0853" y="1573687"/>
            <a:ext cx="5322314" cy="371062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5140BF-34DC-F67C-4222-6BC1DE740FD8}"/>
              </a:ext>
            </a:extLst>
          </p:cNvPr>
          <p:cNvSpPr txBox="1"/>
          <p:nvPr/>
        </p:nvSpPr>
        <p:spPr>
          <a:xfrm>
            <a:off x="871555" y="1250521"/>
            <a:ext cx="46342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Tín hiệu “over” được phát ra khi người chơi không còn trái tim.</a:t>
            </a:r>
            <a:endParaRPr lang="vi-VN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867D5F-CBA8-4D1A-5D33-76C51A2D54FA}"/>
              </a:ext>
            </a:extLst>
          </p:cNvPr>
          <p:cNvSpPr txBox="1"/>
          <p:nvPr/>
        </p:nvSpPr>
        <p:spPr>
          <a:xfrm>
            <a:off x="871555" y="1954398"/>
            <a:ext cx="44689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Khi nhận tín hiệu “over” thực hiện các công việc sau:</a:t>
            </a:r>
            <a:endParaRPr lang="vi-V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5908CE-FF68-12F4-EA0C-5D383630B4F6}"/>
              </a:ext>
            </a:extLst>
          </p:cNvPr>
          <p:cNvSpPr txBox="1"/>
          <p:nvPr/>
        </p:nvSpPr>
        <p:spPr>
          <a:xfrm>
            <a:off x="1219051" y="4074625"/>
            <a:ext cx="38490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-Ẩn nhân vật “Bowl” và dừng tất cả sự kiện.</a:t>
            </a:r>
            <a:endParaRPr lang="vi-V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409429-08E6-0452-7ED0-E8A3234B52F8}"/>
              </a:ext>
            </a:extLst>
          </p:cNvPr>
          <p:cNvSpPr txBox="1"/>
          <p:nvPr/>
        </p:nvSpPr>
        <p:spPr>
          <a:xfrm>
            <a:off x="1219052" y="2927407"/>
            <a:ext cx="38490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- Đổi phông nền thành BG-gameover (phông nền kết thúc game).</a:t>
            </a:r>
            <a:endParaRPr lang="vi-VN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75F70572-19D9-C6A7-3596-841BE534F5B7}"/>
              </a:ext>
            </a:extLst>
          </p:cNvPr>
          <p:cNvSpPr/>
          <p:nvPr/>
        </p:nvSpPr>
        <p:spPr>
          <a:xfrm>
            <a:off x="5204296" y="3044447"/>
            <a:ext cx="560369" cy="41224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BF38B647-D109-5F32-AC28-14007478A7C9}"/>
              </a:ext>
            </a:extLst>
          </p:cNvPr>
          <p:cNvSpPr/>
          <p:nvPr/>
        </p:nvSpPr>
        <p:spPr>
          <a:xfrm>
            <a:off x="5204296" y="4039091"/>
            <a:ext cx="560369" cy="41224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71222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86C0745-F7F8-824F-9F48-C4A737EFDFB5}"/>
              </a:ext>
            </a:extLst>
          </p:cNvPr>
          <p:cNvSpPr txBox="1"/>
          <p:nvPr/>
        </p:nvSpPr>
        <p:spPr>
          <a:xfrm>
            <a:off x="537148" y="966943"/>
            <a:ext cx="30877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US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VN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Lập trình nhân vật </a:t>
            </a:r>
            <a:r>
              <a:rPr lang="en-US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Heart</a:t>
            </a:r>
            <a:endParaRPr lang="en-VN" sz="2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B08B5E-3B7A-7E40-B784-978F7D187314}"/>
              </a:ext>
            </a:extLst>
          </p:cNvPr>
          <p:cNvSpPr txBox="1"/>
          <p:nvPr/>
        </p:nvSpPr>
        <p:spPr>
          <a:xfrm>
            <a:off x="936774" y="1507907"/>
            <a:ext cx="35527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Khi nhấn vào lá cờ sẽ thực hiện các công việc sau:</a:t>
            </a:r>
          </a:p>
          <a:p>
            <a:endParaRPr lang="en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239580-C41F-FF43-9D21-7FDEAACCB449}"/>
              </a:ext>
            </a:extLst>
          </p:cNvPr>
          <p:cNvSpPr txBox="1"/>
          <p:nvPr/>
        </p:nvSpPr>
        <p:spPr>
          <a:xfrm>
            <a:off x="206582" y="305361"/>
            <a:ext cx="18389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800" dirty="0">
                <a:solidFill>
                  <a:srgbClr val="FF0000"/>
                </a:solidFill>
              </a:rPr>
              <a:t>4. Lập trình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A86DD1-3381-8F34-E097-24A4EFCD3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8498" y="828581"/>
            <a:ext cx="4126753" cy="58737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17F1E7E-F1B6-DA62-D341-C27EA2823BBF}"/>
              </a:ext>
            </a:extLst>
          </p:cNvPr>
          <p:cNvSpPr txBox="1"/>
          <p:nvPr/>
        </p:nvSpPr>
        <p:spPr>
          <a:xfrm>
            <a:off x="1215956" y="2202759"/>
            <a:ext cx="40175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- Đặt biến “Lượt” thành 0(biến “Lượt” lưu số lần không hứng được táo).</a:t>
            </a:r>
            <a:endParaRPr lang="vi-V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3CBA4F-8D78-95DD-6C6E-0486C4081FD4}"/>
              </a:ext>
            </a:extLst>
          </p:cNvPr>
          <p:cNvSpPr txBox="1"/>
          <p:nvPr/>
        </p:nvSpPr>
        <p:spPr>
          <a:xfrm>
            <a:off x="1215956" y="3001490"/>
            <a:ext cx="40175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- Hiện nhân vật “Heart” và đi tới tọa độ x=-220 và y=140 đồng thời đặt chết độ không kéo thả. </a:t>
            </a:r>
            <a:endParaRPr lang="vi-V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CC029A-9331-FF6B-846B-33A4F9180704}"/>
              </a:ext>
            </a:extLst>
          </p:cNvPr>
          <p:cNvSpPr txBox="1"/>
          <p:nvPr/>
        </p:nvSpPr>
        <p:spPr>
          <a:xfrm>
            <a:off x="1215956" y="4077220"/>
            <a:ext cx="40175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- Liên tục xét biến “Lượt”, nếu bằng 3 tương đương với người chơi hết lượt. Tiếp theo thay đổi màu “Heart” và ẩn đi. Đồng thời phát tin “over”.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6859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ECBCBFF-8EAA-D946-B77B-583E71010C9E}"/>
              </a:ext>
            </a:extLst>
          </p:cNvPr>
          <p:cNvSpPr txBox="1"/>
          <p:nvPr/>
        </p:nvSpPr>
        <p:spPr>
          <a:xfrm>
            <a:off x="811877" y="2816193"/>
            <a:ext cx="3630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Nhân bản nhân vật “Heart” thành “Heart1” và “Heart2”.</a:t>
            </a:r>
            <a:endParaRPr lang="en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D4F9FF-2D20-3443-92E8-896ED1CB8195}"/>
              </a:ext>
            </a:extLst>
          </p:cNvPr>
          <p:cNvSpPr txBox="1"/>
          <p:nvPr/>
        </p:nvSpPr>
        <p:spPr>
          <a:xfrm>
            <a:off x="490653" y="920449"/>
            <a:ext cx="31325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US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VN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 bản </a:t>
            </a:r>
            <a:r>
              <a:rPr lang="en-VN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 vật </a:t>
            </a:r>
            <a:r>
              <a:rPr lang="en-US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Heart</a:t>
            </a:r>
            <a:endParaRPr lang="en-VN" sz="2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736FF2-ABD2-4C41-9753-6278B5956207}"/>
              </a:ext>
            </a:extLst>
          </p:cNvPr>
          <p:cNvSpPr txBox="1"/>
          <p:nvPr/>
        </p:nvSpPr>
        <p:spPr>
          <a:xfrm>
            <a:off x="253076" y="262543"/>
            <a:ext cx="18389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800" dirty="0">
                <a:solidFill>
                  <a:srgbClr val="FF0000"/>
                </a:solidFill>
              </a:rPr>
              <a:t>4. Lập trình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3667EF-90D9-41E3-1499-FAEA45725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1249" y="1320559"/>
            <a:ext cx="3648584" cy="149563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F241FD4-04E0-E35C-880E-38FDC14896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6118" y="4046672"/>
            <a:ext cx="2838846" cy="857370"/>
          </a:xfrm>
          <a:prstGeom prst="rect">
            <a:avLst/>
          </a:prstGeom>
        </p:spPr>
      </p:pic>
      <p:sp>
        <p:nvSpPr>
          <p:cNvPr id="13" name="Arrow: Down 12">
            <a:extLst>
              <a:ext uri="{FF2B5EF4-FFF2-40B4-BE49-F238E27FC236}">
                <a16:creationId xmlns:a16="http://schemas.microsoft.com/office/drawing/2014/main" id="{4F0E0E61-F168-B257-F27C-8F5B0572B18A}"/>
              </a:ext>
            </a:extLst>
          </p:cNvPr>
          <p:cNvSpPr/>
          <p:nvPr/>
        </p:nvSpPr>
        <p:spPr>
          <a:xfrm>
            <a:off x="8015591" y="2889115"/>
            <a:ext cx="505839" cy="106031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77918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ECBCBFF-8EAA-D946-B77B-583E71010C9E}"/>
              </a:ext>
            </a:extLst>
          </p:cNvPr>
          <p:cNvSpPr txBox="1"/>
          <p:nvPr/>
        </p:nvSpPr>
        <p:spPr>
          <a:xfrm>
            <a:off x="1387282" y="1392975"/>
            <a:ext cx="9828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Điều chỉnh các thông số tọa độ và ánh sáng cho bản sao “Heart1” và “Heart2”.</a:t>
            </a:r>
            <a:endParaRPr lang="en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D4F9FF-2D20-3443-92E8-896ED1CB8195}"/>
              </a:ext>
            </a:extLst>
          </p:cNvPr>
          <p:cNvSpPr txBox="1"/>
          <p:nvPr/>
        </p:nvSpPr>
        <p:spPr>
          <a:xfrm>
            <a:off x="490653" y="920449"/>
            <a:ext cx="42835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US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VN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Lập trình </a:t>
            </a:r>
            <a:r>
              <a:rPr lang="en-VN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 vật </a:t>
            </a:r>
            <a:r>
              <a:rPr lang="en-US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Heart1 và Heart2</a:t>
            </a:r>
            <a:endParaRPr lang="en-VN" sz="2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736FF2-ABD2-4C41-9753-6278B5956207}"/>
              </a:ext>
            </a:extLst>
          </p:cNvPr>
          <p:cNvSpPr txBox="1"/>
          <p:nvPr/>
        </p:nvSpPr>
        <p:spPr>
          <a:xfrm>
            <a:off x="253076" y="262543"/>
            <a:ext cx="18389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800" dirty="0">
                <a:solidFill>
                  <a:srgbClr val="FF0000"/>
                </a:solidFill>
              </a:rPr>
              <a:t>4. Lập trình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6AC2A8-277D-1F7D-26CF-FC7EB2514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041" y="2126453"/>
            <a:ext cx="3423576" cy="432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05C394-1178-4D8D-6D8B-DC017120C5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1892" y="2126453"/>
            <a:ext cx="3505953" cy="4320000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937BAABE-DF0A-3213-4E32-C978018C382B}"/>
              </a:ext>
            </a:extLst>
          </p:cNvPr>
          <p:cNvSpPr/>
          <p:nvPr/>
        </p:nvSpPr>
        <p:spPr>
          <a:xfrm>
            <a:off x="798461" y="3517968"/>
            <a:ext cx="1177641" cy="76848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Heart1</a:t>
            </a:r>
            <a:endParaRPr lang="vi-VN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61434501-0570-32E5-3BB4-0812C141A1B1}"/>
              </a:ext>
            </a:extLst>
          </p:cNvPr>
          <p:cNvSpPr/>
          <p:nvPr/>
        </p:nvSpPr>
        <p:spPr>
          <a:xfrm>
            <a:off x="6087564" y="3517968"/>
            <a:ext cx="1177641" cy="76848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Heart2</a:t>
            </a:r>
            <a:endParaRPr lang="vi-V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6FA63EF-8EDA-5962-6854-820ECDAF0C9E}"/>
              </a:ext>
            </a:extLst>
          </p:cNvPr>
          <p:cNvSpPr/>
          <p:nvPr/>
        </p:nvSpPr>
        <p:spPr>
          <a:xfrm>
            <a:off x="2976664" y="3112851"/>
            <a:ext cx="1177047" cy="405117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82A16C6-3B18-7975-219B-C6954D8CA5E0}"/>
              </a:ext>
            </a:extLst>
          </p:cNvPr>
          <p:cNvSpPr/>
          <p:nvPr/>
        </p:nvSpPr>
        <p:spPr>
          <a:xfrm>
            <a:off x="5058384" y="4743855"/>
            <a:ext cx="389106" cy="405117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A3FE031-B726-5C5D-D606-02AC541CB6B4}"/>
              </a:ext>
            </a:extLst>
          </p:cNvPr>
          <p:cNvSpPr/>
          <p:nvPr/>
        </p:nvSpPr>
        <p:spPr>
          <a:xfrm>
            <a:off x="8430638" y="3099881"/>
            <a:ext cx="1177047" cy="405117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ECCEB36-73A9-471E-8E97-37C77B0F7C75}"/>
              </a:ext>
            </a:extLst>
          </p:cNvPr>
          <p:cNvSpPr/>
          <p:nvPr/>
        </p:nvSpPr>
        <p:spPr>
          <a:xfrm>
            <a:off x="10463720" y="4690251"/>
            <a:ext cx="389106" cy="280583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33781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ECBCBFF-8EAA-D946-B77B-583E71010C9E}"/>
              </a:ext>
            </a:extLst>
          </p:cNvPr>
          <p:cNvSpPr txBox="1"/>
          <p:nvPr/>
        </p:nvSpPr>
        <p:spPr>
          <a:xfrm>
            <a:off x="2662214" y="1152305"/>
            <a:ext cx="6867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Khi nhấn vào lá cờ, chuyển sang phong nền “BG-ingame”.</a:t>
            </a:r>
            <a:endParaRPr lang="en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87A7B5-2997-CC41-8D44-17798E4D6115}"/>
              </a:ext>
            </a:extLst>
          </p:cNvPr>
          <p:cNvSpPr txBox="1"/>
          <p:nvPr/>
        </p:nvSpPr>
        <p:spPr>
          <a:xfrm>
            <a:off x="490653" y="517486"/>
            <a:ext cx="26548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US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VN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Lập trình </a:t>
            </a:r>
            <a:r>
              <a:rPr lang="en-US"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phông nền</a:t>
            </a:r>
            <a:endParaRPr lang="en-VN" sz="2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17A323-4F46-8E43-8747-F8CAFD3BF9FF}"/>
              </a:ext>
            </a:extLst>
          </p:cNvPr>
          <p:cNvSpPr txBox="1"/>
          <p:nvPr/>
        </p:nvSpPr>
        <p:spPr>
          <a:xfrm>
            <a:off x="253076" y="98111"/>
            <a:ext cx="18389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800" dirty="0">
                <a:solidFill>
                  <a:srgbClr val="FF0000"/>
                </a:solidFill>
              </a:rPr>
              <a:t>4. Lập trình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7B707B-866B-A768-4491-C22DAB573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733" y="1545773"/>
            <a:ext cx="2838846" cy="12860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A454D9-2F37-8840-BEC5-C7C227482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3621" y="3215703"/>
            <a:ext cx="4188964" cy="3136459"/>
          </a:xfrm>
          <a:prstGeom prst="rect">
            <a:avLst/>
          </a:prstGeom>
        </p:spPr>
      </p:pic>
      <p:sp>
        <p:nvSpPr>
          <p:cNvPr id="6" name="Arrow: Down 5">
            <a:extLst>
              <a:ext uri="{FF2B5EF4-FFF2-40B4-BE49-F238E27FC236}">
                <a16:creationId xmlns:a16="http://schemas.microsoft.com/office/drawing/2014/main" id="{CF199A20-6C07-E471-8AE0-8ECB49193654}"/>
              </a:ext>
            </a:extLst>
          </p:cNvPr>
          <p:cNvSpPr/>
          <p:nvPr/>
        </p:nvSpPr>
        <p:spPr>
          <a:xfrm>
            <a:off x="5693922" y="2855963"/>
            <a:ext cx="340468" cy="33560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94851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429BC-7ED9-87F0-FA68-FE0AD50F6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67FFE6B-3695-3C24-8EA0-DCBC8B5665ED}"/>
              </a:ext>
            </a:extLst>
          </p:cNvPr>
          <p:cNvSpPr txBox="1"/>
          <p:nvPr/>
        </p:nvSpPr>
        <p:spPr>
          <a:xfrm>
            <a:off x="3347720" y="2828836"/>
            <a:ext cx="54965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Kết</a:t>
            </a:r>
            <a:r>
              <a:rPr lang="en-US" sz="7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72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thúc</a:t>
            </a:r>
            <a:r>
              <a:rPr lang="en-US" sz="7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72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bài</a:t>
            </a:r>
            <a:endParaRPr lang="en-VN" sz="72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95837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2216</TotalTime>
  <Words>1079</Words>
  <Application>Microsoft Office PowerPoint</Application>
  <PresentationFormat>Widescreen</PresentationFormat>
  <Paragraphs>90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D</cp:lastModifiedBy>
  <cp:revision>6</cp:revision>
  <dcterms:created xsi:type="dcterms:W3CDTF">2024-06-13T02:22:59Z</dcterms:created>
  <dcterms:modified xsi:type="dcterms:W3CDTF">2025-11-17T02:55:03Z</dcterms:modified>
</cp:coreProperties>
</file>